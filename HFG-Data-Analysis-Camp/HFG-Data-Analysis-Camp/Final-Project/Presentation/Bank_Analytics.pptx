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</a:defRPr>
            </a:pPr>
            <a:r>
              <a:t>مشروع تحليل بيانات البنك الشامل</a:t>
            </a:r>
          </a:p>
          <a:p>
            <a:pPr algn="r">
              <a:defRPr sz="2000">
                <a:solidFill>
                  <a:srgbClr val="00B4D8"/>
                </a:solidFill>
              </a:defRPr>
            </a:pPr>
            <a:r>
              <a:t>Bank Database Analytics &amp; Power BI Dashboard Report</a:t>
            </a:r>
          </a:p>
          <a:p>
            <a:br/>
            <a:pPr algn="r">
              <a:defRPr sz="1400">
                <a:solidFill>
                  <a:srgbClr val="CBD5E1"/>
                </a:solidFill>
              </a:defRPr>
            </a:pPr>
            <a:r>
              <a:t>عرض تحليلي متكامل يشمل 15 استعلام SQL مفصلاً في شرائح مستقلة (كل سؤال بجانبه السكرين شوت الخاص به) مع صفحات Power BI المفصلة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1. هيكل قاعدة البيانات وحجم السجلات (Data Architecture &amp; Schema)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6858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3200400"/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الجدول (Table)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عدد السجلات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الوصف الوظيفي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Customer &amp; 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5,000 عميل / 6.5K هاتف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البيانات الديموغرافية والجغرافية عبر 5 محافظات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7,000 حساب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حسابات توفير وجارية بأرصدة وحالات تشغيلية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Branch &amp;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 فروع / 200 موظف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الهيكل الإداري والرواتب وتوزيع الكوادر البشرية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3,000 قرض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محفظة تمويل السيارات، العقارات، والقروض الشخصية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7,000 بطاقة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بطاقات الخصم المباشر والائتمان وحالات الحظر</a:t>
                      </a:r>
                    </a:p>
                  </a:txBody>
                  <a:tcPr/>
                </a:tc>
              </a:tr>
              <a:tr h="70539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transactions &amp;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20,000 معاملة / 200 صراف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حركات السحب، الإيداع، التحويل، وسداد الفواتير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25880"/>
            <a:ext cx="356616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400">
                <a:solidFill>
                  <a:srgbClr val="0D47A1"/>
                </a:solidFill>
              </a:defRPr>
            </a:pPr>
            <a:r>
              <a:t>🎯 أهداف المشروع التحليلي:</a:t>
            </a:r>
          </a:p>
          <a:p>
            <a:pPr algn="r">
              <a:defRPr sz="1150">
                <a:solidFill>
                  <a:srgbClr val="212121"/>
                </a:solidFill>
              </a:defRPr>
            </a:pPr>
            <a:r>
              <a:t>• تقييم كفاءة السيولة وحجم الودائع الموزعة عبر الفروع الخمسة.</a:t>
            </a:r>
          </a:p>
          <a:p>
            <a:pPr algn="r">
              <a:defRPr sz="1150">
                <a:solidFill>
                  <a:srgbClr val="212121"/>
                </a:solidFill>
              </a:defRPr>
            </a:pPr>
            <a:r>
              <a:t>• فحص جودة ومخاطر محفظة الائتمان ومعدلات الفائدة التمويلية.</a:t>
            </a:r>
          </a:p>
          <a:p>
            <a:pPr algn="r">
              <a:defRPr sz="1150">
                <a:solidFill>
                  <a:srgbClr val="212121"/>
                </a:solidFill>
              </a:defRPr>
            </a:pPr>
            <a:r>
              <a:t>• دراسة سلوك العملاء ديموغرافياً وجغرافياً لتحديد فرص التوسع.</a:t>
            </a:r>
          </a:p>
          <a:p>
            <a:pPr algn="r">
              <a:defRPr sz="1150">
                <a:solidFill>
                  <a:srgbClr val="212121"/>
                </a:solidFill>
              </a:defRPr>
            </a:pPr>
            <a:r>
              <a:t>• تحليل كفاءة شبكة الصراف الآلي (ATM) وأنماط المعاملات.</a:t>
            </a:r>
          </a:p>
          <a:p>
            <a:pPr algn="r">
              <a:defRPr sz="1150">
                <a:solidFill>
                  <a:srgbClr val="212121"/>
                </a:solidFill>
              </a:defRPr>
            </a:pPr>
            <a:r>
              <a:t>• بناء استعلامات SQL متقدمة لحصر فرص البيع المتقاطع وكبار المودعين.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2. لوحة التحكم: النظرة العامة - مؤشرات الأداء الرئيسية (KPIs)</a:t>
            </a:r>
          </a:p>
        </p:txBody>
      </p:sp>
      <p:pic>
        <p:nvPicPr>
          <p:cNvPr id="3" name="Picture 2" descr="input_fi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إجمالي الودائع (Total Balance): 873.91M موزعة بتوازن تام بين الفروع الخمسة.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إجمالي قيمة المعاملات (Total Tx Amount): 39.99M منفذة عبر 20K حركة.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نسبة الحسابات النشطة (Active Account %): 97.50% مما يعكس استقراراً تشغيلياً عالياً.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محفظة القروض التراكمية: 2.26bn موزعة عبر 9,000 سجل تمويلي.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3. لوحة التحكم: النظرة العامة - اتجاه المعاملات الشهرية</a:t>
            </a:r>
          </a:p>
        </p:txBody>
      </p:sp>
      <p:pic>
        <p:nvPicPr>
          <p:cNvPr id="3" name="Picture 2" descr="input_fi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Line Chart (Total Transaction Amount by YearMonth):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يبين استقرار حجم المعاملات الشهرية حول متوسط 3.3 مليون شهرياً طوال عام 2025 مع قمة طفيفة بنهاية الفترة.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يوضح قدرة البنك على الحفاظ على معدل تشغيلي ثابت دون هبوط حاد في حركة السيولة.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4. لوحة التحكم: النظرة العامة - توزيع المعاملات وتنافسية الفروع</a:t>
            </a:r>
          </a:p>
        </p:txBody>
      </p:sp>
      <p:pic>
        <p:nvPicPr>
          <p:cNvPr id="3" name="Picture 2" descr="input_fi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Bar Chart &amp; Column Chart: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تساوي قيم حركات التحويل، السحب، الإيداع، وسداد الفواتير بنحو 10M لكل منها، بينما استعلام الرصيد قيمته 0.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توزعت الودائع بالتساوي بين الفروع: Main Branch (179.57M)، West (176.79M)، East (175.65M)، North (172.34M)، South (169.56M).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5. لوحة التحكم: الحسابات - توزيع الأنواع وحالة النشاط</a:t>
            </a:r>
          </a:p>
        </p:txBody>
      </p:sp>
      <p:pic>
        <p:nvPicPr>
          <p:cNvPr id="3" name="Picture 2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Donut Chart &amp; Stacked Bar Chart: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يمتلك البنك 7,000 حساب؛ حسابات التوفير تمثل 66.67% (4.67K) والحسابات الجارية تمثل 33.33% (2.33K).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نسبة الحسابات النشطة (Active) تمثل 97.5% مقابل 2.5% فقط للحسابات المغلقة عبر كافة الفروع.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6. لوحة التحكم: الحسابات - الأرصدة والمتوسطات بالفروع</a:t>
            </a:r>
          </a:p>
        </p:txBody>
      </p:sp>
      <p:pic>
        <p:nvPicPr>
          <p:cNvPr id="3" name="Picture 2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Bar Chart &amp; Column Chart: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متوسط رصيد الحساب متقارب جداً عبر الفروع ويدور بين 123K و 126K (يتصدرها Main Branch بـ 125,927).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تستحوذ حسابات التوفير على النصيب الأكبر من السيولة بإجمالي 0.58bn مقارنة بـ 0.29bn للحسابات الجارية.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7. لوحة التحكم: العملاء - التوزيع الديموغرافي والجغرافي</a:t>
            </a:r>
          </a:p>
        </p:txBody>
      </p:sp>
      <p:pic>
        <p:nvPicPr>
          <p:cNvPr id="3" name="Picture 2" descr="input_fi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Donut, Column &amp; Bar Charts: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توازن كامل بين الجنسين (50.5% إناث = 2.5K، و 49.5% ذكور = 2.5K) بإجمالي 5K عميل.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الفئة العمرية (40-59 سنة) هي الأكثر تمثيلاً (&gt; 1,800 عميل)، تليها الفئة (25-39 سنة).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انتشار جغرافي متكافئ عبر المحافظات الخمس (الجيزة، أسوان، القاهرة، الإسكندرية، المنصورة) بـ ~1,000 عميل لكل محافظة.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8. لوحة التحكم: القروض - الحالة ومعدلات الفائدة</a:t>
            </a:r>
          </a:p>
        </p:txBody>
      </p:sp>
      <p:pic>
        <p:nvPicPr>
          <p:cNvPr id="3" name="Picture 2" descr="input_fi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Donut &amp; Column Charts: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القروض السارية والنشطة (Active) تمثل 65.1% (1.95K قرض) مقابل 34.9% قروض مكتملة السداد (1.05K قرض).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معدلات الفائدة المصرفية موحدة تقريباً وتدور حول 10.4% إلى 10.6% عبر جميع أنواع القروض.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9. لوحة التحكم: القروض - حجوم المحفظة التمويلية</a:t>
            </a:r>
          </a:p>
        </p:txBody>
      </p:sp>
      <p:pic>
        <p:nvPicPr>
          <p:cNvPr id="3" name="Picture 2" descr="input_fi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Column Chart (Sum of Amount by LoanType):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القروض الشخصية (Personal) تتصدر بـ 260.0M، تليها القروض العقارية (Home) بـ 258.8M، ثم السيارات (Auto) بـ 235.6M.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إجمالي المحفظة القائمة يبلغ 754.3M موزعاً على 3,000 عقد تمويلي نشط ومكتمل.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10. لوحة التحكم: المعاملات - صرافات الذروة وأنماط الدفع</a:t>
            </a:r>
          </a:p>
        </p:txBody>
      </p:sp>
      <p:pic>
        <p:nvPicPr>
          <p:cNvPr id="3" name="Picture 2" descr="input_fil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📊 الشرح التفصيلي للرسم البياني: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Table, Pie &amp; Column Charts: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تساوي نسب العمليات بنسبة 20% لكل نوع (4,000 حركة لكل من: سحب، إيداع، تحويل، فواتير، استعلام).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تصدرت ماكينة ATM 132 بـ 127 حركة وقيمة 295.6K، تليها ATM 51 بـ 125 حركة وقيمة 252.9K.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حركة منتظمة بمعدل 2.8K إلى 2.9K معاملة يومياً عبر أيام الأسبوع.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Basic Query: WHERE (Numeric Filter), ORDER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Q1: الحسابات النشطة ذات الأرصدة المرتفعة (High-Value Active Accounts)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هي الحسابات النشطة التي يتجاوز رصيدها 100,000، وكيف يتم ترتيبها تنازلياً؟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تحديد كبار المودعين (VIP) لتقديم برامج مخصصة للخدمات المصرفية الخاصة والاحتفاظ بالأرصدة.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Account_Number, Customer_ID, Account_Type, Balance, Status</a:t>
            </a:r>
            <a:br/>
            <a:r>
              <a:t>FROM Account</a:t>
            </a:r>
            <a:br/>
            <a:r>
              <a:t>WHERE Status = 'Active'</a:t>
            </a:r>
            <a:br/>
            <a:r>
              <a:t>  AND Balance &gt; 100000</a:t>
            </a:r>
            <a:br/>
            <a:r>
              <a:t>ORDER BY Balance DESC;</a:t>
            </a:r>
          </a:p>
        </p:txBody>
      </p:sp>
      <p:pic>
        <p:nvPicPr>
          <p:cNvPr id="4" name="Picture 3" descr="input_file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Account_Number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Account_Type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1000001299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249970.90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249934.82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1000006101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249930.44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1000006371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249869.43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Basic Query: WHERE (Date Filter), ORDER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Q2: القروض الحديثة والتصفية الزمنية (Recent Loans Portfolio)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هي القروض التي تم إصدارها بدءاً من عام 2025 وحتى الآن؟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تتبع النشاط الائتماني الحديث للبنك لمراجعة حجم التمويل ومعدلات الإقبال.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LoanID, Customer_ID, Amount, StartDate, LoanType</a:t>
            </a:r>
            <a:br/>
            <a:r>
              <a:t>FROM Loan</a:t>
            </a:r>
            <a:br/>
            <a:r>
              <a:t>WHERE StartDate &gt;= '2025-01-01'</a:t>
            </a:r>
            <a:br/>
            <a:r>
              <a:t>ORDER BY StartDate DESC;</a:t>
            </a:r>
          </a:p>
        </p:txBody>
      </p:sp>
      <p:pic>
        <p:nvPicPr>
          <p:cNvPr id="4" name="Picture 3" descr="input_file_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LoanID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StartDate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LoanType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182648.89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2026-01-26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141242.72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2026-01-26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Personal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286158.31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2026-01-26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Personal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454974.39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2026-01-25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Auto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Aggregation: COUNT, SUM, AVG, GROUP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Q3: ملخص السيولة وأداء الحسابات بكل فرع (Branch-Level Account Summary)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كم يبلغ إجمالي ومتوسط الأرصدة وعدد الحسابات المدارة في كل فرع من فروع البنك؟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تقييم الحصص السوقية للفروع وتوزيع السيولة لتوجيه خطط التوسع والدعم.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Branch_ID, COUNT(*) AS num_accounts, SUM(Balance) AS total_balance, AVG(Balance) AS avg_balance</a:t>
            </a:r>
            <a:br/>
            <a:r>
              <a:t>FROM Account</a:t>
            </a:r>
            <a:br/>
            <a:r>
              <a:t>GROUP BY Branch_ID</a:t>
            </a:r>
            <a:br/>
            <a:r>
              <a:t>ORDER BY total_balance DESC;</a:t>
            </a:r>
          </a:p>
        </p:txBody>
      </p:sp>
      <p:pic>
        <p:nvPicPr>
          <p:cNvPr id="4" name="Picture 3" descr="input_file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num_accounts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total_balance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avg_balance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179572541.43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125927.45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176788419.45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125027.17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175647609.43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125194.30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172342310.95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123189.64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Aggregation: GROUP BY + HAVING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Q4: الفروع ذات الكثافة التشغيلية المرتفعة (High-Volume Branches)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هي الفروع التي تدير أكثر من 500 حساب نشط؟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تحديد الفروع التي تقع تحت ضغط تشغيلي مرتفع لتزويدها بكوادر وصرافات آلية إضافية.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Branch_ID, COUNT(*) AS active_accounts</a:t>
            </a:r>
            <a:br/>
            <a:r>
              <a:t>FROM Account</a:t>
            </a:r>
            <a:br/>
            <a:r>
              <a:t>WHERE Status = 'Active'</a:t>
            </a:r>
            <a:br/>
            <a:r>
              <a:t>GROUP BY Branch_ID</a:t>
            </a:r>
            <a:br/>
            <a:r>
              <a:t>HAVING COUNT(*) &gt; 500;</a:t>
            </a:r>
          </a:p>
        </p:txBody>
      </p:sp>
      <p:pic>
        <p:nvPicPr>
          <p:cNvPr id="4" name="Picture 3" descr="input_fil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active_accounts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1391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1363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1388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Joins: INNER JOIN (Customer -&gt; Account -&gt; Branch)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Q5: بيانات كبار العملاء وفروعهم (Customer, Account &amp; Branch Detail)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من هم العملاء أصحاب الأرصدة التي تتجاوز 200,000 وما هو الفرع التابع لكل منهم؟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بناء ملف متكامل لكبار المودعين لتخصيص مديري علاقات ماليين (Relationship Managers).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c.Customer_ID, c.FirstName, c.LastName, a.Account_Number, a.Account_Type, a.Balance, b.BranchName</a:t>
            </a:r>
            <a:br/>
            <a:r>
              <a:t>FROM Customer c</a:t>
            </a:r>
            <a:br/>
            <a:r>
              <a:t>INNER JOIN Account a ON c.Customer_ID = a.Customer_ID</a:t>
            </a:r>
            <a:br/>
            <a:r>
              <a:t>INNER JOIN Branch  b ON a.Branch_ID   = b.BranchId</a:t>
            </a:r>
            <a:br/>
            <a:r>
              <a:t>WHERE a.Balance &gt; 200000</a:t>
            </a:r>
            <a:br/>
            <a:r>
              <a:t>ORDER BY a.Balance DESC;</a:t>
            </a:r>
          </a:p>
        </p:txBody>
      </p:sp>
      <p:pic>
        <p:nvPicPr>
          <p:cNvPr id="4" name="Picture 3" descr="input_fil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FirstName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Account_Number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Account_Type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First1686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1000001299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249970.90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West Branch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First3240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249934.82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South Branch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First1923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1000006101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249930.44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North Branch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First2573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1000006371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249869.43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East Branch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Join: LEFT JOIN (Anti-Join via IS NULL)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Q6: العملاء غير الحاصلين على قروض (Cross-Selling Target Segment)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من هم العملاء الذين يمتلكون حسابات نشطة ولكنهم لم يقترضوا مسبقاً؟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استخراج شريحة مستهدفة لحملات البيع المتقاطع والتمويل الشخصي والعقاري.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c.Customer_ID, c.FirstName, c.LastName</a:t>
            </a:r>
            <a:br/>
            <a:r>
              <a:t>FROM Customer c</a:t>
            </a:r>
            <a:br/>
            <a:r>
              <a:t>LEFT JOIN Loan l ON c.Customer_ID = l.Customer_ID</a:t>
            </a:r>
            <a:br/>
            <a:r>
              <a:t>WHERE l.LoanID IS NULL;</a:t>
            </a:r>
          </a:p>
        </p:txBody>
      </p:sp>
      <p:pic>
        <p:nvPicPr>
          <p:cNvPr id="4" name="Picture 3" descr="input_fil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FirstName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LastName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Last1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Last2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Last4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Last6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CTE + Aggregation + JOIN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Q7: كفاءة وتسعير الإقراض بالفروع (Branch Loan Performance via CTE)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هو حجم التمويل ومتوسط أسعار الفائدة الممنوحة في كل فرع من فروع البنك؟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مقارنة حجم التمويل ومعدلات الفائدة لتقييم سياسات التسعير الائتماني لكل فرع.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WITH BranchLoans AS (</a:t>
            </a:r>
            <a:br/>
            <a:r>
              <a:t>    SELECT Branch_ID, COUNT(*) AS total_loans, SUM(Amount) AS total_loan_amount, AVG(InterestRate) AS avg_rate</a:t>
            </a:r>
            <a:br/>
            <a:r>
              <a:t>    FROM Loan</a:t>
            </a:r>
            <a:br/>
            <a:r>
              <a:t>    GROUP BY Branch_ID</a:t>
            </a:r>
            <a:br/>
            <a:r>
              <a:t>)</a:t>
            </a:r>
            <a:br/>
            <a:r>
              <a:t>SELECT b.BranchName, bl.total_loans, bl.total_loan_amount, bl.avg_rate</a:t>
            </a:r>
            <a:br/>
            <a:r>
              <a:t>FROM BranchLoans bl</a:t>
            </a:r>
            <a:br/>
            <a:r>
              <a:t>JOIN Branch b ON bl.Branch_ID = b.BranchId</a:t>
            </a:r>
            <a:br/>
            <a:r>
              <a:t>ORDER BY bl.total_loan_amount DESC;</a:t>
            </a:r>
          </a:p>
        </p:txBody>
      </p:sp>
      <p:pic>
        <p:nvPicPr>
          <p:cNvPr id="4" name="Picture 3" descr="input_fil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total_loans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total_loan_amount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avg_rate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Main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161585081.36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10.51%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South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151881451.02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10.51%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East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151201977.49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10.49%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West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148594895.41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10.48%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CTE + Window Function: LAG() OVER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Q8: النمو الشهري للمعاملات النقدية (Monthly Transaction Trend with LAG)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كيف يتغير حجم وقيمة المعاملات شهرياً وما هو معدل النمو مقارنة بالشهر السابق (MoM)؟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رصد المواسم والتقلبات في تدفقات السيولة لضمان توافر النقدية.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WITH MonthlyTx AS (</a:t>
            </a:r>
            <a:br/>
            <a:r>
              <a:t>    SELECT FORMAT(TransactionDate, 'yyyy-MM') AS tx_month, COUNT(*) AS num_transactions, SUM(Amount) AS total_amount</a:t>
            </a:r>
            <a:br/>
            <a:r>
              <a:t>    FROM transactions_ATM_Account</a:t>
            </a:r>
            <a:br/>
            <a:r>
              <a:t>    GROUP BY FORMAT(TransactionDate, 'yyyy-MM'))</a:t>
            </a:r>
            <a:br/>
            <a:r>
              <a:t>SELECT tx_month, num_transactions, total_amount,</a:t>
            </a:r>
            <a:br/>
            <a:r>
              <a:t>       total_amount - LAG(total_amount) OVER (ORDER BY tx_month) AS change_from_prev_month</a:t>
            </a:r>
            <a:br/>
            <a:r>
              <a:t>FROM MonthlyTx</a:t>
            </a:r>
            <a:br/>
            <a:r>
              <a:t>ORDER BY tx_month;</a:t>
            </a:r>
          </a:p>
        </p:txBody>
      </p:sp>
      <p:pic>
        <p:nvPicPr>
          <p:cNvPr id="4" name="Picture 3" descr="input_fil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tx_month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num_transactions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total_amount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change_from_prev_month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582985.13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2025-02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3138446.11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2555460.98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2025-03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3379831.62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241385.51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2025-04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3309367.70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-70463.92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Window Function: RANK() with PARTITION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Q9: ترتيب كبار العملاء داخل كل محافظة (Customer Ranking by State)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من هم أصحاب الحسابات الأعلى رصيداً في كل محافظة أو منطقة بشكل مستقل؟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دعم الإدارات الإقليمية بتحديد كبار العملاء لتقديم باقات استثمارية خاصة.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c.Customer_ID, c.FirstName, c.State, a.Balance,</a:t>
            </a:r>
            <a:br/>
            <a:r>
              <a:t>       RANK() OVER (PARTITION BY c.State ORDER BY a.Balance DESC) AS balance_rank_in_state</a:t>
            </a:r>
            <a:br/>
            <a:r>
              <a:t>FROM Customer c</a:t>
            </a:r>
            <a:br/>
            <a:r>
              <a:t>JOIN Account a ON c.Customer_ID = a.Customer_ID</a:t>
            </a:r>
            <a:br/>
            <a:r>
              <a:t>ORDER BY c.State, balance_rank_in_state;</a:t>
            </a:r>
          </a:p>
        </p:txBody>
      </p:sp>
      <p:pic>
        <p:nvPicPr>
          <p:cNvPr id="4" name="Picture 3" descr="input_fil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FirstName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rank_in_state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First1686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Alexandria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249970.90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Alexandria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249846.94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First3441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Alexandria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249806.56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First4765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Alexandria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249721.32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Window Function: SUM() OVER with PARTITION BY + ORDER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Q10: كشف الحساب والتدفق التراكمي (Running Balance Movement)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كيف يتراكم رصيد المعاملات لحساب معين عبر الزمن؟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بناء كشف حساب فوري ومتابعة السيولة النقدية للحساب بعد كل حركة.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Account_Number, TransactionDate, Amount,</a:t>
            </a:r>
            <a:br/>
            <a:r>
              <a:t>       SUM(Amount) OVER (PARTITION BY Account_Number ORDER BY TransactionDate) AS running_total</a:t>
            </a:r>
            <a:br/>
            <a:r>
              <a:t>FROM transactions_ATM_Account</a:t>
            </a:r>
            <a:br/>
            <a:r>
              <a:t>WHERE Account_Number = 1000004012</a:t>
            </a:r>
            <a:br/>
            <a:r>
              <a:t>ORDER BY TransactionDate;</a:t>
            </a:r>
          </a:p>
        </p:txBody>
      </p:sp>
      <p:pic>
        <p:nvPicPr>
          <p:cNvPr id="4" name="Picture 3" descr="input_fil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Account_Number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TransactionDate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running_total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1000004012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2025-03-11 09:29:11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2147.80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2147.80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1000004012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2025-05-16 12:39:11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2663.52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4811.32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1000004012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2026-01-09 22:02:11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1061.88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5873.20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Window Function: AVG() OVER with PARTITION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Q11: عزل القروض غير الاعتيادية وتحليل المخاطر (Loan Amount vs Type Average)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هي القروض التي تتجاوز قيمتها متوسط نوعها الائتماني بشكل كبير؟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كشف القروض الضخمة لفحص كفاية الضمانات ومراجعة مخاطر الائتمان.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LoanID, Customer_ID, LoanType, Amount,</a:t>
            </a:r>
            <a:br/>
            <a:r>
              <a:t>       AVG(Amount) OVER (PARTITION BY LoanType) AS avg_amount_for_type,</a:t>
            </a:r>
            <a:br/>
            <a:r>
              <a:t>       Amount - AVG(Amount) OVER (PARTITION BY LoanType) AS diff_from_avg</a:t>
            </a:r>
            <a:br/>
            <a:r>
              <a:t>FROM Loan</a:t>
            </a:r>
            <a:br/>
            <a:r>
              <a:t>ORDER BY LoanType, diff_from_avg DESC;</a:t>
            </a:r>
          </a:p>
        </p:txBody>
      </p:sp>
      <p:pic>
        <p:nvPicPr>
          <p:cNvPr id="4" name="Picture 3" descr="input_fil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LoanID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LoanType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avg_type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diff_from_avg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346079.22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246149.43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99929.79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348483.87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248555.66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99928.21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359387.31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259534.17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99853.14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345808.16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246149.43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99658.73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Aggregation + Calculated Percentage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Q12: توزيع وصحة محفظة البطاقات البنكية (Card Portfolio Breakdown)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هو توزيع أنواع البطاقات وحالاتها التشغيلية ونسبتها المئوية من الإجمالي؟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قياس نسبة البطاقات النشطة إلى المحظورة (Blocked Cards Rate) كأحد مؤشرات الأداء.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Card_Type, Card_Status, COUNT(*) AS num_cards,</a:t>
            </a:r>
            <a:br/>
            <a:r>
              <a:t>       ROUND(100.0 * COUNT(*) / (SELECT COUNT(*) FROM Card), 2) AS pct_of_total</a:t>
            </a:r>
            <a:br/>
            <a:r>
              <a:t>FROM Card</a:t>
            </a:r>
            <a:br/>
            <a:r>
              <a:t>GROUP BY Card_Type, Card_Status</a:t>
            </a:r>
            <a:br/>
            <a:r>
              <a:t>ORDER BY num_cards DESC;</a:t>
            </a:r>
          </a:p>
        </p:txBody>
      </p:sp>
      <p:pic>
        <p:nvPicPr>
          <p:cNvPr id="4" name="Picture 3" descr="input_fil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Card_Type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Card_Status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num_cards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pct_of_total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Debit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65.00%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32.50%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Debit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1.67%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0.83%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Window Function: AVG() OVER with PARTITION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Q13: عدالة الأجور ومقارنة رواتب الموظفين بالفروع (Salary Equity per Branch)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من هم الموظفون الذين تتجاوز رواتبهم متوسط رواتب فرعهم بشكل ملحوظ؟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دعم إدارة الموارد البشرية في مراجعة هياكل الأجور وتطبيق العدالة المالية.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Employee_ID, FirstName, LastName, Branch_ID, Salary,</a:t>
            </a:r>
            <a:br/>
            <a:r>
              <a:t>       AVG(Salary) OVER (PARTITION BY Branch_ID) AS branch_avg_salary,</a:t>
            </a:r>
            <a:br/>
            <a:r>
              <a:t>       Salary - AVG(Salary) OVER (PARTITION BY Branch_ID) AS diff_from_branch_avg</a:t>
            </a:r>
            <a:br/>
            <a:r>
              <a:t>FROM Employee</a:t>
            </a:r>
            <a:br/>
            <a:r>
              <a:t>ORDER BY diff_from_branch_avg DESC;</a:t>
            </a:r>
          </a:p>
        </p:txBody>
      </p:sp>
      <p:pic>
        <p:nvPicPr>
          <p:cNvPr id="4" name="Picture 3" descr="input_fil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Employee_ID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FirstName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Salary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branch_avg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EmpFirst109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17213.53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16218.74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994.79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EmpFirst107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17016.60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16039.07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977.53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EmpFirst185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26186.16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16417.71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9768.45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EmpFirst184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25924.51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16218.74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9705.77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Aggregation + JOIN (Transactions + ATM)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Q14: تحديد ماكينات الصراف الآلي الأكثر نشاطاً (Top ATM Locations by Activity)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ما هي ماكينات الصراف الآلي التي تسجل أعلى حجم وقيمة للمعاملات؟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إعادة تنظيم جداول التغذية النقدية والصيانة الدورية لماكينات الذروة.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SELECT t.ATM_ID, a.Location, a.Branch_ID, COUNT(*) AS num_transactions, SUM(t.Amount) AS total_amount</a:t>
            </a:r>
            <a:br/>
            <a:r>
              <a:t>FROM transactions_ATM_Account t</a:t>
            </a:r>
            <a:br/>
            <a:r>
              <a:t>JOIN ATM a ON t.ATM_ID = a.ATM_ID</a:t>
            </a:r>
            <a:br/>
            <a:r>
              <a:t>GROUP BY t.ATM_ID, a.Location, a.Branch_ID</a:t>
            </a:r>
            <a:br/>
            <a:r>
              <a:t>ORDER BY total_amount DESC;</a:t>
            </a:r>
          </a:p>
        </p:txBody>
      </p:sp>
      <p:pic>
        <p:nvPicPr>
          <p:cNvPr id="4" name="Picture 3" descr="input_fil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ATM_ID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num_tx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total_amount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ATM Location 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295592.59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ATM Location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262753.86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ATM Location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261854.10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ATM Location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258964.84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تحليلات SQL المتقدمة | CTE + Window Function: ROW_NUMBER() with PARTITION BY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Q15: أفضل 3 عملاء بكل فرع حسب الرصيد (Top 3 Customers per Branch)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30352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0D47A1"/>
                </a:solidFill>
              </a:defRPr>
            </a:pPr>
            <a:r>
              <a:t>❓ سؤال الأعمال (Business Question):</a:t>
            </a:r>
            <a:br/>
            <a:r>
              <a:t>من هم كبار المودعين الثلاثة الأوائل داخل كل فرع من فروع البنك؟</a:t>
            </a:r>
          </a:p>
          <a:p>
            <a:br/>
            <a:pPr algn="r">
              <a:defRPr sz="1050">
                <a:solidFill>
                  <a:srgbClr val="212121"/>
                </a:solidFill>
              </a:defRPr>
            </a:pPr>
            <a:r>
              <a:t>💡 القيمة الإدارية (Business Insight):</a:t>
            </a:r>
            <a:br/>
            <a:r>
              <a:t>تطبيق استعلام Top-N per Group لتخصيص خدمات كبار العملاء محلياً.</a:t>
            </a:r>
          </a:p>
          <a:p>
            <a:br/>
            <a:pPr algn="r">
              <a:defRPr b="1" sz="1050">
                <a:solidFill>
                  <a:srgbClr val="1976D2"/>
                </a:solidFill>
              </a:defRPr>
            </a:pPr>
            <a:r>
              <a:t>📝 كود الاستعلام (SQL Code):</a:t>
            </a:r>
          </a:p>
          <a:p>
            <a:pPr algn="l">
              <a:defRPr sz="950">
                <a:solidFill>
                  <a:srgbClr val="0F172A"/>
                </a:solidFill>
                <a:latin typeface="Courier New"/>
              </a:defRPr>
            </a:pPr>
            <a:r>
              <a:t>WITH CustomerBalance AS (</a:t>
            </a:r>
            <a:br/>
            <a:r>
              <a:t>    SELECT a.Branch_ID, c.Customer_ID, c.FirstName, c.LastName, SUM(a.Balance) AS total_balance</a:t>
            </a:r>
            <a:br/>
            <a:r>
              <a:t>    FROM Account a</a:t>
            </a:r>
            <a:br/>
            <a:r>
              <a:t>    JOIN Customer c ON a.Customer_ID = c.Customer_ID</a:t>
            </a:r>
            <a:br/>
            <a:r>
              <a:t>    GROUP BY a.Branch_ID, c.Customer_ID, c.FirstName, c.LastName</a:t>
            </a:r>
            <a:br/>
            <a:r>
              <a:t>),</a:t>
            </a:r>
            <a:br/>
            <a:r>
              <a:t>RankedCustomers AS (</a:t>
            </a:r>
            <a:br/>
            <a:r>
              <a:t>    SELECT *, ROW_NUMBER() OVER (PARTITION BY Branch_ID ORDER BY total_balance DESC) AS rn</a:t>
            </a:r>
            <a:br/>
            <a:r>
              <a:t>    FROM CustomerBalance</a:t>
            </a:r>
            <a:br/>
            <a:r>
              <a:t>)</a:t>
            </a:r>
            <a:br/>
            <a:r>
              <a:t>SELECT Branch_ID, Customer_ID, FirstName, LastName, total_balance</a:t>
            </a:r>
            <a:br/>
            <a:r>
              <a:t>FROM RankedCustomers</a:t>
            </a:r>
            <a:br/>
            <a:r>
              <a:t>WHERE rn &lt;= 3</a:t>
            </a:r>
            <a:br/>
            <a:r>
              <a:t>ORDER BY Branch_ID, total_balance DESC;</a:t>
            </a:r>
          </a:p>
        </p:txBody>
      </p:sp>
      <p:pic>
        <p:nvPicPr>
          <p:cNvPr id="4" name="Picture 3" descr="input_fil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12080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393192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FirstName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total_balance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First2649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674977.73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First2150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546632.82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487064.03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First4891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596740.17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18. أهم الرؤى ونتائج الأعمال المستخلصة (Key Business Insights)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12080" cy="237744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💰 توازن الودائع واستقرار الفروع</a:t>
            </a:r>
          </a:p>
          <a:p>
            <a:br/>
            <a:pPr algn="r">
              <a:defRPr sz="1100">
                <a:solidFill>
                  <a:srgbClr val="212121"/>
                </a:solidFill>
              </a:defRPr>
            </a:pPr>
            <a:r>
              <a:t>يستحوذ البنك على 873.91M ودائع موزعة بتكافؤ عبر الفروع الخمسة (بين 169.5M و 179.5M)، وتسيطر حسابات التوفير على ثلثي الحسابات ومجمل الأرصدة (0.58bn).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12080" cy="237744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🛡️ جودة التشغيل وانخفاض المخاطر</a:t>
            </a:r>
          </a:p>
          <a:p>
            <a:br/>
            <a:pPr algn="r">
              <a:defRPr sz="1100">
                <a:solidFill>
                  <a:srgbClr val="212121"/>
                </a:solidFill>
              </a:defRPr>
            </a:pPr>
            <a:r>
              <a:t>نسبة الحسابات النشطة تبلغ 97.5% ونسبة البطاقات المحظورة لا تتجاوز 2.5%، مما يعكس جودة إدارة الحسابات وانخفاض التعثر الائتماني والتشغيلي.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📈 قوة محفظة التمويل والائتمان</a:t>
            </a:r>
          </a:p>
          <a:p>
            <a:br/>
            <a:pPr algn="r">
              <a:defRPr sz="1100">
                <a:solidFill>
                  <a:srgbClr val="212121"/>
                </a:solidFill>
              </a:defRPr>
            </a:pPr>
            <a:r>
              <a:t>تبلغ قيمة القروض القائمة 754.3M (منها 65.1% قروض سارية ونشطة)، وتستحوذ القروض الشخصية (260M) والعقارية (258.8M) على النصيب الأكبر بفائدة متزنة (~10.5%).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00">
                <a:solidFill>
                  <a:srgbClr val="0D47A1"/>
                </a:solidFill>
              </a:defRPr>
            </a:pPr>
            <a:r>
              <a:t>⚡ تحول الصرافات لمنصات رقمية</a:t>
            </a:r>
          </a:p>
          <a:p>
            <a:br/>
            <a:pPr algn="r">
              <a:defRPr sz="1100">
                <a:solidFill>
                  <a:srgbClr val="212121"/>
                </a:solidFill>
              </a:defRPr>
            </a:pPr>
            <a:r>
              <a:t>تنفيذ 20 ألف معاملة بقيمة 40M موزعة بالتساوي (20% لكل نوع حركة)، مما يثبت الاعتماد على الصرافات في سداد الفواتير والتحويلات بنفس حجم السحب النقدي.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مشروع تحليل بيانات البنك | Bank Analytics Project</a:t>
            </a:r>
          </a:p>
          <a:p>
            <a:pPr algn="r">
              <a:defRPr sz="1900" b="1">
                <a:solidFill>
                  <a:srgbClr val="0D47A1"/>
                </a:solidFill>
              </a:defRPr>
            </a:pPr>
            <a:r>
              <a:t>19. التوصيات ومقترحات التطوير (Recommendations &amp; Strategic Next Steps)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50">
                <a:solidFill>
                  <a:srgbClr val="0D47A1"/>
                </a:solidFill>
              </a:defRPr>
            </a:pPr>
            <a:r>
              <a:t>🖥️ مقترحات تطوير الداشبورد (Power BI UX):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تفعيل خاصية Drill-through: تمكين المستخدم من النقر على اسم الفرع في صفحة Overview للانتقال الفوري لقائمة الحسابات والعملاء والموظفين التابعين له.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إضافة What-If Parameters: بناء أداة تفاعلية لمحاكاة أثر رفع أو خفض أسعار الفائدة على أرباح محفظة القروض التمويلية.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التنسيق الشرطي (Conditional Formatting): تلوين ماكينات الصراف الآلي التي تشهد سحباً نقدياً كبيراً باللون الأحمر لتنبيه فرق التغذية فوراً.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إضافة مؤشرات Tooltips ذكية: إظهار تفاصيل العميل ونوع بطاقته عند الوقوف على أي رقم حساب.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8FA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350">
                <a:solidFill>
                  <a:srgbClr val="0D47A1"/>
                </a:solidFill>
              </a:defRPr>
            </a:pPr>
            <a:r>
              <a:t>💼 التوصيات المصرفية والتشغيلية (Business Actions):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إطلاق حملات البيع المتقاطع (Cross-Selling): استهداف شريحة الـ 2,742 عميلاً المحددين في كويري Q6 بعروض قروض شخصية وتمويل ميسر.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جدولة صيانة وتغذية ماكينات الذروة: التركيز على ماكينات ATM 132 و 200 و 27 و 51 لضمان استمرار الخدمة دون انقطاع.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برامج الحفاظ على كبار المودعين (VIP Programs): تخصيص مديري علاقات مالية لكبار العملاء (Mona Ibrahim, Ahmed Ali) المحددين في كويري Q1 و Q5 و Q15.</a:t>
            </a:r>
          </a:p>
          <a:p>
            <a:pPr algn="r">
              <a:defRPr sz="1100">
                <a:solidFill>
                  <a:srgbClr val="212121"/>
                </a:solidFill>
              </a:defRPr>
            </a:pPr>
            <a:r>
              <a:t>• تطوير عوائد حسابات التوفير: تقديم حوافز وعوائد تنافسية للحفاظ على ودائع التوفير (0.58bn) من الانتقال للبنوك المنافسة.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